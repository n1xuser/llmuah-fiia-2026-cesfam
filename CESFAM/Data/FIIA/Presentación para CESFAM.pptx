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Play"/>
      <p:regular r:id="rId13"/>
      <p:bold r:id="rId14"/>
    </p:embeddedFont>
    <p:embeddedFont>
      <p:font typeface="Lexend SemiBold"/>
      <p:regular r:id="rId15"/>
      <p:bold r:id="rId16"/>
    </p:embeddedFont>
    <p:embeddedFont>
      <p:font typeface="Poppins"/>
      <p:regular r:id="rId17"/>
      <p:bold r:id="rId18"/>
      <p:italic r:id="rId19"/>
      <p:boldItalic r:id="rId20"/>
    </p:embeddedFont>
    <p:embeddedFont>
      <p:font typeface="Fira Sans Extra Condensed Medium"/>
      <p:regular r:id="rId21"/>
      <p:bold r:id="rId22"/>
      <p:italic r:id="rId23"/>
      <p:boldItalic r:id="rId24"/>
    </p:embeddedFont>
    <p:embeddedFont>
      <p:font typeface="Lexend Medium"/>
      <p:regular r:id="rId25"/>
      <p:bold r:id="rId26"/>
    </p:embeddedFont>
    <p:embeddedFont>
      <p:font typeface="Lexend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FiraSansExtraCondensedMedium-bold.fntdata"/><Relationship Id="rId21" Type="http://schemas.openxmlformats.org/officeDocument/2006/relationships/font" Target="fonts/FiraSansExtraCondensedMedium-regular.fntdata"/><Relationship Id="rId24" Type="http://schemas.openxmlformats.org/officeDocument/2006/relationships/font" Target="fonts/FiraSansExtraCondensedMedium-boldItalic.fntdata"/><Relationship Id="rId23" Type="http://schemas.openxmlformats.org/officeDocument/2006/relationships/font" Target="fonts/FiraSansExtraCondensed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Medium-bold.fntdata"/><Relationship Id="rId25" Type="http://schemas.openxmlformats.org/officeDocument/2006/relationships/font" Target="fonts/LexendMedium-regular.fntdata"/><Relationship Id="rId27" Type="http://schemas.openxmlformats.org/officeDocument/2006/relationships/font" Target="fonts/Lexen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-regular.fntdata"/><Relationship Id="rId12" Type="http://schemas.openxmlformats.org/officeDocument/2006/relationships/slide" Target="slides/slide6.xml"/><Relationship Id="rId15" Type="http://schemas.openxmlformats.org/officeDocument/2006/relationships/font" Target="fonts/LexendSemiBold-regular.fntdata"/><Relationship Id="rId14" Type="http://schemas.openxmlformats.org/officeDocument/2006/relationships/font" Target="fonts/Play-bold.fntdata"/><Relationship Id="rId17" Type="http://schemas.openxmlformats.org/officeDocument/2006/relationships/font" Target="fonts/Poppins-regular.fntdata"/><Relationship Id="rId16" Type="http://schemas.openxmlformats.org/officeDocument/2006/relationships/font" Target="fonts/LexendSemiBold-bold.fntdata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c3b14c14_0_117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6c3b14c14_0_11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6c3b14c14_0_117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6c3b14c14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6c3b14c14_0_11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6c3b14c14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6c3b14c14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6c3b14c1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c3b14c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g3f6c3b14c1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6c3b14c14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2" name="Google Shape;202;g3f6c3b14c14_0_3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6c3b14c14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g3f6c3b14c14_1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6c3b14c14_1_24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6c3b14c14_1_24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6c3b14c14_1_24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6c3b14c14_1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6c3b14c14_1_24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6c3b14c14_1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1c8cf300_56_0)">
  <p:cSld name="Generated (g3ec1c8cf300_56_0)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0" name="Google Shape;100;p2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2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4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 + desig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 rot="5400000">
            <a:off x="6603596" y="1930225"/>
            <a:ext cx="3481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28"/>
          <p:cNvSpPr txBox="1"/>
          <p:nvPr>
            <p:ph idx="1" type="subTitle"/>
          </p:nvPr>
        </p:nvSpPr>
        <p:spPr>
          <a:xfrm>
            <a:off x="3423900" y="802522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8"/>
          <p:cNvSpPr txBox="1"/>
          <p:nvPr>
            <p:ph idx="2" type="title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38" name="Google Shape;138;p28"/>
          <p:cNvSpPr txBox="1"/>
          <p:nvPr>
            <p:ph idx="3" type="ctrTitle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9" name="Google Shape;139;p28"/>
          <p:cNvSpPr txBox="1"/>
          <p:nvPr>
            <p:ph idx="4" type="subTitle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28"/>
          <p:cNvSpPr txBox="1"/>
          <p:nvPr>
            <p:ph idx="5" type="title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6" type="ctrTitle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28"/>
          <p:cNvSpPr txBox="1"/>
          <p:nvPr>
            <p:ph idx="7" type="subTitle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28"/>
          <p:cNvSpPr txBox="1"/>
          <p:nvPr>
            <p:ph idx="8" type="title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9" type="ctrTitle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8"/>
          <p:cNvSpPr txBox="1"/>
          <p:nvPr>
            <p:ph idx="13" type="ctrTitle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6" name="Google Shape;146;p28"/>
          <p:cNvSpPr txBox="1"/>
          <p:nvPr>
            <p:ph idx="14" type="subTitle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28"/>
          <p:cNvSpPr txBox="1"/>
          <p:nvPr>
            <p:ph idx="15" type="title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48" name="Google Shape;148;p28"/>
          <p:cNvSpPr txBox="1"/>
          <p:nvPr>
            <p:ph idx="16" type="ctrTitle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9" name="Google Shape;149;p28"/>
          <p:cNvSpPr txBox="1"/>
          <p:nvPr>
            <p:ph idx="17" type="subTitle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0" name="Google Shape;150;p28"/>
          <p:cNvSpPr txBox="1"/>
          <p:nvPr>
            <p:ph idx="18" type="title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1">
  <p:cSld name="TITLE_ONLY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1282274" y="296977"/>
            <a:ext cx="65793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Title and text 7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>
            <p:ph idx="1" type="subTitle"/>
          </p:nvPr>
        </p:nvSpPr>
        <p:spPr>
          <a:xfrm rot="-350">
            <a:off x="1144728" y="2229050"/>
            <a:ext cx="29445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100"/>
              <a:buChar char="•"/>
              <a:defRPr sz="12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type="title"/>
          </p:nvPr>
        </p:nvSpPr>
        <p:spPr>
          <a:xfrm>
            <a:off x="1144750" y="852500"/>
            <a:ext cx="29445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2" type="subTitle"/>
          </p:nvPr>
        </p:nvSpPr>
        <p:spPr>
          <a:xfrm rot="-350">
            <a:off x="1144843" y="2809250"/>
            <a:ext cx="2944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2100"/>
              <a:buChar char="•"/>
              <a:defRPr sz="12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30"/>
          <p:cNvSpPr/>
          <p:nvPr/>
        </p:nvSpPr>
        <p:spPr>
          <a:xfrm>
            <a:off x="4464437" y="340538"/>
            <a:ext cx="215121" cy="4685872"/>
          </a:xfrm>
          <a:custGeom>
            <a:rect b="b" l="l" r="r" t="t"/>
            <a:pathLst>
              <a:path extrusionOk="0" h="57288" w="2630">
                <a:moveTo>
                  <a:pt x="1315" y="0"/>
                </a:moveTo>
                <a:cubicBezTo>
                  <a:pt x="585" y="0"/>
                  <a:pt x="1" y="110"/>
                  <a:pt x="1" y="110"/>
                </a:cubicBezTo>
                <a:lnTo>
                  <a:pt x="1" y="57287"/>
                </a:lnTo>
                <a:lnTo>
                  <a:pt x="1348" y="56219"/>
                </a:lnTo>
                <a:lnTo>
                  <a:pt x="2630" y="57287"/>
                </a:lnTo>
                <a:lnTo>
                  <a:pt x="2630" y="110"/>
                </a:lnTo>
                <a:cubicBezTo>
                  <a:pt x="2630" y="110"/>
                  <a:pt x="2045" y="0"/>
                  <a:pt x="131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42863" rotWithShape="0" algn="bl" dir="4380000" dist="14288">
              <a:srgbClr val="000000">
                <a:alpha val="325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1c8cf300_56_0)">
  <p:cSld name="Generated (g3ec1c8cf300_56_0)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very subtle and clean background pattern with indigenous South American textile motifs, high-key, minimal contrast, professional presentation style." id="168" name="Google Shape;1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/>
          <p:nvPr/>
        </p:nvSpPr>
        <p:spPr>
          <a:xfrm>
            <a:off x="428625" y="1112344"/>
            <a:ext cx="571500" cy="71700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 txBox="1"/>
          <p:nvPr/>
        </p:nvSpPr>
        <p:spPr>
          <a:xfrm>
            <a:off x="428625" y="1296113"/>
            <a:ext cx="8550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4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GSI – Gestor en Salud Intercultural</a:t>
            </a:r>
            <a:endParaRPr b="1" sz="4400">
              <a:solidFill>
                <a:srgbClr val="0942A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28625" y="3330306"/>
            <a:ext cx="8550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Cerrando</a:t>
            </a:r>
            <a:r>
              <a:rPr b="0"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 brechas en la situaci</a:t>
            </a:r>
            <a:r>
              <a:rPr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ón </a:t>
            </a:r>
            <a:r>
              <a:rPr b="0"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salud de los pu</a:t>
            </a:r>
            <a:r>
              <a:rPr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eblos </a:t>
            </a:r>
            <a:r>
              <a:rPr b="0" lang="es" sz="1500">
                <a:solidFill>
                  <a:srgbClr val="444444"/>
                </a:solidFill>
                <a:latin typeface="Lexend"/>
                <a:ea typeface="Lexend"/>
                <a:cs typeface="Lexend"/>
                <a:sym typeface="Lexend"/>
              </a:rPr>
              <a:t>indígenas a través de tecnología y pertinencia cultural.</a:t>
            </a:r>
            <a:endParaRPr b="0" sz="1500">
              <a:solidFill>
                <a:srgbClr val="44444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525094" y="4649888"/>
            <a:ext cx="21903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8888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888888"/>
                </a:solidFill>
                <a:latin typeface="Lexend"/>
                <a:ea typeface="Lexend"/>
                <a:cs typeface="Lexend"/>
                <a:sym typeface="Lexend"/>
              </a:rPr>
              <a:t>Santiago, Agosto 2026</a:t>
            </a:r>
            <a:endParaRPr sz="1200">
              <a:solidFill>
                <a:srgbClr val="88888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525" y="81713"/>
            <a:ext cx="1893399" cy="8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very subtle and clean background pattern with indigenous South American textile motifs, high-key, minimal contrast, professional presentation style." id="179" name="Google Shape;1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0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3"/>
          <p:cNvSpPr txBox="1"/>
          <p:nvPr>
            <p:ph idx="4294967295" type="title"/>
          </p:nvPr>
        </p:nvSpPr>
        <p:spPr>
          <a:xfrm>
            <a:off x="174000" y="142875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Financiamiento</a:t>
            </a:r>
            <a:endParaRPr b="1" sz="2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33"/>
          <p:cNvPicPr preferRelativeResize="0"/>
          <p:nvPr/>
        </p:nvPicPr>
        <p:blipFill rotWithShape="1">
          <a:blip r:embed="rId5">
            <a:alphaModFix/>
          </a:blip>
          <a:srcRect b="2390" l="0" r="0" t="2390"/>
          <a:stretch/>
        </p:blipFill>
        <p:spPr>
          <a:xfrm>
            <a:off x="5000700" y="3429000"/>
            <a:ext cx="4143300" cy="17145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183" name="Google Shape;183;p33"/>
          <p:cNvSpPr/>
          <p:nvPr/>
        </p:nvSpPr>
        <p:spPr>
          <a:xfrm>
            <a:off x="285750" y="1143000"/>
            <a:ext cx="4381500" cy="3714900"/>
          </a:xfrm>
          <a:prstGeom prst="roundRect">
            <a:avLst>
              <a:gd fmla="val 23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3"/>
          <p:cNvSpPr txBox="1"/>
          <p:nvPr/>
        </p:nvSpPr>
        <p:spPr>
          <a:xfrm>
            <a:off x="523875" y="1381125"/>
            <a:ext cx="3905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FIIA 2026</a:t>
            </a:r>
            <a:endParaRPr b="1" sz="1800">
              <a:solidFill>
                <a:srgbClr val="0942A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Fondo al Fomento a la Investigación Interdisciplinaria Aplicada</a:t>
            </a:r>
            <a:endParaRPr b="1">
              <a:solidFill>
                <a:srgbClr val="47556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7556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750"/>
              </a:spcAft>
              <a:buNone/>
            </a:pPr>
            <a:r>
              <a:rPr b="0" lang="es" sz="13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Fondo interno de la universidad </a:t>
            </a:r>
            <a:r>
              <a:rPr lang="es" sz="13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Alberto </a:t>
            </a:r>
            <a:r>
              <a:rPr lang="es" sz="13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Hurtado</a:t>
            </a:r>
            <a:r>
              <a:rPr lang="es" sz="13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lang="es" sz="13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que busca apoyar iniciativas de investigación aplicada, desarrollo tecnológico e innovación con impacto social, productivo y en políticas públicas.</a:t>
            </a:r>
            <a:endParaRPr b="0" sz="13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33"/>
          <p:cNvSpPr/>
          <p:nvPr/>
        </p:nvSpPr>
        <p:spPr>
          <a:xfrm>
            <a:off x="4857750" y="1143000"/>
            <a:ext cx="4000500" cy="666900"/>
          </a:xfrm>
          <a:prstGeom prst="roundRect">
            <a:avLst>
              <a:gd fmla="val 12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/>
        </p:nvSpPr>
        <p:spPr>
          <a:xfrm>
            <a:off x="5048250" y="1238250"/>
            <a:ext cx="361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Interdisciplinario</a:t>
            </a:r>
            <a:endParaRPr b="1" sz="1100">
              <a:solidFill>
                <a:srgbClr val="0942A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Depto Antropología + Depto Ingeniería</a:t>
            </a:r>
            <a:endParaRPr b="0" sz="1000">
              <a:solidFill>
                <a:srgbClr val="47556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4857750" y="1905000"/>
            <a:ext cx="4000500" cy="666900"/>
          </a:xfrm>
          <a:prstGeom prst="roundRect">
            <a:avLst>
              <a:gd fmla="val 12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5048250" y="2000250"/>
            <a:ext cx="361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Innovación</a:t>
            </a:r>
            <a:endParaRPr b="1" sz="1100">
              <a:solidFill>
                <a:srgbClr val="0942A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Busca resolución de problemas complejos de manera integral</a:t>
            </a:r>
            <a:endParaRPr b="0" sz="1000">
              <a:solidFill>
                <a:srgbClr val="47556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33"/>
          <p:cNvSpPr/>
          <p:nvPr/>
        </p:nvSpPr>
        <p:spPr>
          <a:xfrm>
            <a:off x="4857750" y="2667000"/>
            <a:ext cx="4000500" cy="666900"/>
          </a:xfrm>
          <a:prstGeom prst="roundRect">
            <a:avLst>
              <a:gd fmla="val 12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3"/>
          <p:cNvSpPr txBox="1"/>
          <p:nvPr/>
        </p:nvSpPr>
        <p:spPr>
          <a:xfrm>
            <a:off x="5048250" y="2762250"/>
            <a:ext cx="3619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Vinculación con el Medio</a:t>
            </a:r>
            <a:endParaRPr b="1" sz="1100">
              <a:solidFill>
                <a:srgbClr val="0942A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0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rPr>
              <a:t>Acercar la academia a instituciones externas</a:t>
            </a:r>
            <a:endParaRPr b="0" sz="1000">
              <a:solidFill>
                <a:srgbClr val="47556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4"/>
          <p:cNvSpPr txBox="1"/>
          <p:nvPr>
            <p:ph type="title"/>
          </p:nvPr>
        </p:nvSpPr>
        <p:spPr>
          <a:xfrm>
            <a:off x="428625" y="142875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GSI – Gestor en Salud Intercultural</a:t>
            </a:r>
            <a:endParaRPr b="1" sz="2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4451569" y="1143000"/>
            <a:ext cx="4583400" cy="37149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/>
        </p:nvSpPr>
        <p:spPr>
          <a:xfrm>
            <a:off x="4558894" y="1285875"/>
            <a:ext cx="4357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Que permite lograr.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s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Asiste</a:t>
            </a:r>
            <a:r>
              <a:rPr b="1"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a equipos de salud en decisiones sobre atención, prevención y promoción de la salud de personas indígenas y reporta evidencia de implementación.</a:t>
            </a:r>
            <a:endParaRPr sz="11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Que contiene.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Modelo de lenguaje </a:t>
            </a:r>
            <a:r>
              <a:rPr b="1" lang="es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entrenado en base normativa intercultural, información epidemiológica y experiencias de implementadores</a:t>
            </a:r>
            <a:r>
              <a:rPr b="1"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Interfaz whatsapp, api de servicios y módulo de análisis de interacciones basado en procesamiento de lenguaje natural.</a:t>
            </a:r>
            <a:endParaRPr sz="11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just">
              <a:spcBef>
                <a:spcPts val="500"/>
              </a:spcBef>
              <a:spcAft>
                <a:spcPts val="500"/>
              </a:spcAft>
              <a:buNone/>
            </a:pPr>
            <a:r>
              <a:rPr b="1" lang="es" sz="15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rPr>
              <a:t>Como se usa.</a:t>
            </a:r>
            <a:r>
              <a:rPr lang="es" sz="15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Se podrán formular preguntas del proceso terapéutico y del desarrollo de planificaciones interculturales, </a:t>
            </a:r>
            <a:r>
              <a:rPr b="1" lang="es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recibiendo orientaciones</a:t>
            </a:r>
            <a:r>
              <a:rPr lang="es" sz="1100">
                <a:solidFill>
                  <a:srgbClr val="333333"/>
                </a:solidFill>
                <a:latin typeface="Lexend"/>
                <a:ea typeface="Lexend"/>
                <a:cs typeface="Lexend"/>
                <a:sym typeface="Lexend"/>
              </a:rPr>
              <a:t> acorde a la normativa por parte de bot.</a:t>
            </a:r>
            <a:endParaRPr sz="1100">
              <a:solidFill>
                <a:srgbClr val="33333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34" title="Gemini_Generated_Image_h2xqmmh2xqmmh2xq.png"/>
          <p:cNvPicPr preferRelativeResize="0"/>
          <p:nvPr/>
        </p:nvPicPr>
        <p:blipFill rotWithShape="1">
          <a:blip r:embed="rId3">
            <a:alphaModFix/>
          </a:blip>
          <a:srcRect b="0" l="31413" r="0" t="0"/>
          <a:stretch/>
        </p:blipFill>
        <p:spPr>
          <a:xfrm>
            <a:off x="231025" y="1359525"/>
            <a:ext cx="4126776" cy="328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5"/>
          <p:cNvSpPr txBox="1"/>
          <p:nvPr/>
        </p:nvSpPr>
        <p:spPr>
          <a:xfrm>
            <a:off x="428625" y="142875"/>
            <a:ext cx="8286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Equipo</a:t>
            </a:r>
            <a:endParaRPr b="1" sz="3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" name="Google Shape;206;p35"/>
          <p:cNvGrpSpPr/>
          <p:nvPr/>
        </p:nvGrpSpPr>
        <p:grpSpPr>
          <a:xfrm>
            <a:off x="258451" y="1143000"/>
            <a:ext cx="2760231" cy="3714750"/>
            <a:chOff x="381000" y="1524000"/>
            <a:chExt cx="2171700" cy="4953000"/>
          </a:xfrm>
        </p:grpSpPr>
        <p:sp>
          <p:nvSpPr>
            <p:cNvPr id="207" name="Google Shape;207;p35"/>
            <p:cNvSpPr/>
            <p:nvPr/>
          </p:nvSpPr>
          <p:spPr>
            <a:xfrm>
              <a:off x="381000" y="1524000"/>
              <a:ext cx="2171700" cy="4953000"/>
            </a:xfrm>
            <a:prstGeom prst="roundRect">
              <a:avLst>
                <a:gd fmla="val 7017" name="adj"/>
              </a:avLst>
            </a:prstGeom>
            <a:solidFill>
              <a:srgbClr val="FFFFFF"/>
            </a:solidFill>
            <a:ln cap="flat" cmpd="sng" w="7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406" y="1618800"/>
              <a:ext cx="1074900" cy="1926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09" name="Google Shape;209;p35"/>
            <p:cNvSpPr txBox="1"/>
            <p:nvPr/>
          </p:nvSpPr>
          <p:spPr>
            <a:xfrm>
              <a:off x="476250" y="3349967"/>
              <a:ext cx="19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Bárbara Bustos</a:t>
              </a:r>
              <a:endParaRPr b="1" sz="14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Directora de Proyecto </a:t>
              </a:r>
              <a:endParaRPr b="0"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700"/>
                </a:spcAft>
                <a:buNone/>
              </a:pPr>
              <a:r>
                <a:rPr b="0" lang="es" sz="800">
                  <a:solidFill>
                    <a:srgbClr val="475569"/>
                  </a:solidFill>
                  <a:latin typeface="Lexend"/>
                  <a:ea typeface="Lexend"/>
                  <a:cs typeface="Lexend"/>
                  <a:sym typeface="Lexend"/>
                </a:rPr>
                <a:t>Antropóloga experiencia en políticas públicas, salud intercultural y política indigena</a:t>
              </a:r>
              <a:endParaRPr b="0" sz="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" name="Google Shape;210;p35"/>
          <p:cNvGrpSpPr/>
          <p:nvPr/>
        </p:nvGrpSpPr>
        <p:grpSpPr>
          <a:xfrm>
            <a:off x="3250078" y="1143000"/>
            <a:ext cx="2760231" cy="3714750"/>
            <a:chOff x="2743200" y="1524000"/>
            <a:chExt cx="2171700" cy="4953000"/>
          </a:xfrm>
        </p:grpSpPr>
        <p:sp>
          <p:nvSpPr>
            <p:cNvPr id="211" name="Google Shape;211;p35"/>
            <p:cNvSpPr/>
            <p:nvPr/>
          </p:nvSpPr>
          <p:spPr>
            <a:xfrm>
              <a:off x="2743200" y="1524000"/>
              <a:ext cx="2171700" cy="4953000"/>
            </a:xfrm>
            <a:prstGeom prst="roundRect">
              <a:avLst>
                <a:gd fmla="val 7017" name="adj"/>
              </a:avLst>
            </a:prstGeom>
            <a:solidFill>
              <a:srgbClr val="FFFFFF"/>
            </a:solidFill>
            <a:ln cap="flat" cmpd="sng" w="7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2" name="Google Shape;212;p35"/>
            <p:cNvPicPr preferRelativeResize="0"/>
            <p:nvPr/>
          </p:nvPicPr>
          <p:blipFill rotWithShape="1">
            <a:blip r:embed="rId4">
              <a:alphaModFix/>
            </a:blip>
            <a:srcRect b="2972" l="0" r="0" t="2972"/>
            <a:stretch/>
          </p:blipFill>
          <p:spPr>
            <a:xfrm>
              <a:off x="3301350" y="1629300"/>
              <a:ext cx="1055400" cy="17997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13" name="Google Shape;213;p35"/>
            <p:cNvSpPr txBox="1"/>
            <p:nvPr/>
          </p:nvSpPr>
          <p:spPr>
            <a:xfrm>
              <a:off x="2838457" y="3667300"/>
              <a:ext cx="1981200" cy="280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Cristian Olivares</a:t>
              </a:r>
              <a:endParaRPr b="1" sz="14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Gerente Tecnológico</a:t>
              </a:r>
              <a:endParaRPr b="0"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0" lang="es" sz="800">
                  <a:solidFill>
                    <a:srgbClr val="475569"/>
                  </a:solidFill>
                  <a:latin typeface="Lexend"/>
                  <a:ea typeface="Lexend"/>
                  <a:cs typeface="Lexend"/>
                  <a:sym typeface="Lexend"/>
                </a:rPr>
                <a:t>Ingeniero civil informático y experto en modelos computacionales del comportamiento humano en entornos digitales</a:t>
              </a:r>
              <a:endParaRPr b="0" sz="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" name="Google Shape;214;p35"/>
          <p:cNvGrpSpPr/>
          <p:nvPr/>
        </p:nvGrpSpPr>
        <p:grpSpPr>
          <a:xfrm>
            <a:off x="6241726" y="1143000"/>
            <a:ext cx="2760231" cy="3714750"/>
            <a:chOff x="381000" y="1524000"/>
            <a:chExt cx="2171700" cy="4953000"/>
          </a:xfrm>
        </p:grpSpPr>
        <p:sp>
          <p:nvSpPr>
            <p:cNvPr id="215" name="Google Shape;215;p35"/>
            <p:cNvSpPr/>
            <p:nvPr/>
          </p:nvSpPr>
          <p:spPr>
            <a:xfrm>
              <a:off x="381000" y="1524000"/>
              <a:ext cx="2171700" cy="4953000"/>
            </a:xfrm>
            <a:prstGeom prst="roundRect">
              <a:avLst>
                <a:gd fmla="val 7017" name="adj"/>
              </a:avLst>
            </a:prstGeom>
            <a:solidFill>
              <a:srgbClr val="FFFFFF"/>
            </a:solidFill>
            <a:ln cap="flat" cmpd="sng" w="71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5"/>
            <p:cNvSpPr txBox="1"/>
            <p:nvPr/>
          </p:nvSpPr>
          <p:spPr>
            <a:xfrm>
              <a:off x="476259" y="1749367"/>
              <a:ext cx="1981200" cy="44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6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Octavio Peña</a:t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Personal de terreno y Analista de datos </a:t>
              </a: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 </a:t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Fabio Sáez </a:t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Arquitecto de software </a:t>
              </a: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 </a:t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Vicente Álvarez</a:t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Desarrollador del modelo bot </a:t>
              </a: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 </a:t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900">
                <a:solidFill>
                  <a:srgbClr val="1E3A8A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es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Octavio Marchant </a:t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Desarrollador del modelo bot </a:t>
              </a:r>
              <a:r>
                <a:rPr lang="es" sz="900">
                  <a:solidFill>
                    <a:srgbClr val="1E3A8A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 </a:t>
              </a:r>
              <a:r>
                <a:rPr b="1" lang="es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b="1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700"/>
                </a:spcAft>
                <a:buNone/>
              </a:pPr>
              <a:r>
                <a:t/>
              </a:r>
              <a:endParaRPr b="0" sz="8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7" name="Google Shape;217;p35"/>
          <p:cNvPicPr preferRelativeResize="0"/>
          <p:nvPr/>
        </p:nvPicPr>
        <p:blipFill rotWithShape="1">
          <a:blip r:embed="rId5">
            <a:alphaModFix/>
          </a:blip>
          <a:srcRect b="15925" l="0" r="0" t="15431"/>
          <a:stretch/>
        </p:blipFill>
        <p:spPr>
          <a:xfrm>
            <a:off x="7191888" y="1221225"/>
            <a:ext cx="859900" cy="63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0942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/>
        </p:nvSpPr>
        <p:spPr>
          <a:xfrm>
            <a:off x="381000" y="14287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Pasos a seguir</a:t>
            </a:r>
            <a:endParaRPr b="1" sz="27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4" name="Google Shape;224;p36"/>
          <p:cNvGrpSpPr/>
          <p:nvPr/>
        </p:nvGrpSpPr>
        <p:grpSpPr>
          <a:xfrm>
            <a:off x="381000" y="1238250"/>
            <a:ext cx="2600400" cy="3524400"/>
            <a:chOff x="381000" y="1238250"/>
            <a:chExt cx="2600400" cy="3524400"/>
          </a:xfrm>
        </p:grpSpPr>
        <p:sp>
          <p:nvSpPr>
            <p:cNvPr id="225" name="Google Shape;225;p36"/>
            <p:cNvSpPr/>
            <p:nvPr/>
          </p:nvSpPr>
          <p:spPr>
            <a:xfrm>
              <a:off x="381000" y="1238250"/>
              <a:ext cx="2600400" cy="3524400"/>
            </a:xfrm>
            <a:prstGeom prst="roundRect">
              <a:avLst>
                <a:gd fmla="val 549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6"/>
            <p:cNvSpPr txBox="1"/>
            <p:nvPr/>
          </p:nvSpPr>
          <p:spPr>
            <a:xfrm>
              <a:off x="523875" y="1381125"/>
              <a:ext cx="2314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Jornada 1</a:t>
              </a:r>
              <a:endParaRPr b="1" sz="16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64748B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Septiembre</a:t>
              </a:r>
              <a:endParaRPr b="0"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rgbClr val="1E293B"/>
                  </a:solidFill>
                  <a:latin typeface="Lexend"/>
                  <a:ea typeface="Lexend"/>
                  <a:cs typeface="Lexend"/>
                  <a:sym typeface="Lexend"/>
                </a:rPr>
                <a:t>Focus group</a:t>
              </a:r>
              <a:endParaRPr b="1" sz="1300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Lexend"/>
                  <a:ea typeface="Lexend"/>
                  <a:cs typeface="Lexend"/>
                  <a:sym typeface="Lexend"/>
                </a:rPr>
                <a:t>En grupos de 6 a 10 profesionales buscamos indagar en el quehacer y las necesidades en torno al cumplimiento de la interculturalidad.</a:t>
              </a:r>
              <a:endParaRPr b="0" sz="11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" name="Google Shape;227;p36"/>
          <p:cNvGrpSpPr/>
          <p:nvPr/>
        </p:nvGrpSpPr>
        <p:grpSpPr>
          <a:xfrm>
            <a:off x="3267075" y="1238250"/>
            <a:ext cx="2600400" cy="3524400"/>
            <a:chOff x="3267075" y="1238250"/>
            <a:chExt cx="2600400" cy="3524400"/>
          </a:xfrm>
        </p:grpSpPr>
        <p:sp>
          <p:nvSpPr>
            <p:cNvPr id="228" name="Google Shape;228;p36"/>
            <p:cNvSpPr/>
            <p:nvPr/>
          </p:nvSpPr>
          <p:spPr>
            <a:xfrm>
              <a:off x="3267075" y="1238250"/>
              <a:ext cx="2600400" cy="3524400"/>
            </a:xfrm>
            <a:prstGeom prst="roundRect">
              <a:avLst>
                <a:gd fmla="val 549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6"/>
            <p:cNvSpPr txBox="1"/>
            <p:nvPr/>
          </p:nvSpPr>
          <p:spPr>
            <a:xfrm>
              <a:off x="3409950" y="1381125"/>
              <a:ext cx="2314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Jornada 2</a:t>
              </a:r>
              <a:endParaRPr b="1" sz="16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64748B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Octubre</a:t>
              </a:r>
              <a:endParaRPr b="0"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rgbClr val="1E293B"/>
                  </a:solidFill>
                  <a:latin typeface="Lexend"/>
                  <a:ea typeface="Lexend"/>
                  <a:cs typeface="Lexend"/>
                  <a:sym typeface="Lexend"/>
                </a:rPr>
                <a:t>Instalación GSI</a:t>
              </a:r>
              <a:endParaRPr b="1" sz="1300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Lexend"/>
                  <a:ea typeface="Lexend"/>
                  <a:cs typeface="Lexend"/>
                  <a:sym typeface="Lexend"/>
                </a:rPr>
                <a:t>Marca el inicio del pilotaje del chatbot, se enseñará cómo instalar y usar esta herramienta.</a:t>
              </a:r>
              <a:endParaRPr b="0" sz="11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0" name="Google Shape;230;p36"/>
          <p:cNvGrpSpPr/>
          <p:nvPr/>
        </p:nvGrpSpPr>
        <p:grpSpPr>
          <a:xfrm>
            <a:off x="6153150" y="1238250"/>
            <a:ext cx="2600400" cy="3524400"/>
            <a:chOff x="6153150" y="1238250"/>
            <a:chExt cx="2600400" cy="3524400"/>
          </a:xfrm>
        </p:grpSpPr>
        <p:sp>
          <p:nvSpPr>
            <p:cNvPr id="231" name="Google Shape;231;p36"/>
            <p:cNvSpPr/>
            <p:nvPr/>
          </p:nvSpPr>
          <p:spPr>
            <a:xfrm>
              <a:off x="6153150" y="1238250"/>
              <a:ext cx="2600400" cy="3524400"/>
            </a:xfrm>
            <a:prstGeom prst="roundRect">
              <a:avLst>
                <a:gd fmla="val 549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6"/>
            <p:cNvSpPr txBox="1"/>
            <p:nvPr/>
          </p:nvSpPr>
          <p:spPr>
            <a:xfrm>
              <a:off x="6296025" y="1381125"/>
              <a:ext cx="2314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0942A1"/>
                  </a:solidFill>
                  <a:latin typeface="Lexend"/>
                  <a:ea typeface="Lexend"/>
                  <a:cs typeface="Lexend"/>
                  <a:sym typeface="Lexend"/>
                </a:rPr>
                <a:t>Jornada 3</a:t>
              </a:r>
              <a:endParaRPr b="1" sz="1600">
                <a:solidFill>
                  <a:srgbClr val="0942A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64748B"/>
                  </a:solidFill>
                  <a:latin typeface="Lexend Medium"/>
                  <a:ea typeface="Lexend Medium"/>
                  <a:cs typeface="Lexend Medium"/>
                  <a:sym typeface="Lexend Medium"/>
                </a:rPr>
                <a:t>Diciembre - Enero</a:t>
              </a:r>
              <a:endParaRPr b="0"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Lexend Medium"/>
                <a:ea typeface="Lexend Medium"/>
                <a:cs typeface="Lexend Medium"/>
                <a:sym typeface="Lexend Medium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rgbClr val="1E293B"/>
                  </a:solidFill>
                  <a:latin typeface="Lexend"/>
                  <a:ea typeface="Lexend"/>
                  <a:cs typeface="Lexend"/>
                  <a:sym typeface="Lexend"/>
                </a:rPr>
                <a:t>Retroalimentación</a:t>
              </a:r>
              <a:endParaRPr b="1" sz="1300">
                <a:solidFill>
                  <a:srgbClr val="1E293B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Lexend"/>
                  <a:ea typeface="Lexend"/>
                  <a:cs typeface="Lexend"/>
                  <a:sym typeface="Lexend"/>
                </a:rPr>
                <a:t>Retroalimentación por parte del CESFAM y sus profesionales. Adicionalmente se aplicará un formulario de Modelo de Aceptación Tecnológica (TAM).</a:t>
              </a:r>
              <a:endParaRPr b="0" sz="1100">
                <a:solidFill>
                  <a:srgbClr val="47556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361" y="3505199"/>
            <a:ext cx="1071675" cy="10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1435" y="3505223"/>
            <a:ext cx="1071675" cy="10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7522" y="3505225"/>
            <a:ext cx="1071675" cy="10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000" y="818400"/>
            <a:ext cx="6234000" cy="35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7"/>
          <p:cNvSpPr txBox="1"/>
          <p:nvPr/>
        </p:nvSpPr>
        <p:spPr>
          <a:xfrm>
            <a:off x="3315600" y="1953350"/>
            <a:ext cx="25128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¿Dudas?</a:t>
            </a:r>
            <a:endParaRPr b="1" sz="4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600" y="2939250"/>
            <a:ext cx="10668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